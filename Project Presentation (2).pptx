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13716000" cy="24384000"/>
  <p:embeddedFontLst>
    <p:embeddedFont>
      <p:font typeface="EB Garamond"/>
      <p:regular r:id="rId16"/>
      <p:bold r:id="rId17"/>
      <p:italic r:id="rId18"/>
      <p:boldItalic r:id="rId19"/>
    </p:embeddedFon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616">
          <p15:clr>
            <a:srgbClr val="A4A3A4"/>
          </p15:clr>
        </p15:guide>
        <p15:guide id="2" orient="horz" pos="3264">
          <p15:clr>
            <a:srgbClr val="A4A3A4"/>
          </p15:clr>
        </p15:guide>
        <p15:guide id="3" pos="6912">
          <p15:clr>
            <a:srgbClr val="A4A3A4"/>
          </p15:clr>
        </p15:guide>
        <p15:guide id="4" orient="horz">
          <p15:clr>
            <a:srgbClr val="A4A3A4"/>
          </p15:clr>
        </p15:guide>
        <p15:guide id="5" orient="horz" pos="4008">
          <p15:clr>
            <a:srgbClr val="A4A3A4"/>
          </p15:clr>
        </p15:guide>
        <p15:guide id="6" orient="horz" pos="2352">
          <p15:clr>
            <a:srgbClr val="A4A3A4"/>
          </p15:clr>
        </p15:guide>
        <p15:guide id="7" pos="6696">
          <p15:clr>
            <a:srgbClr val="A4A3A4"/>
          </p15:clr>
        </p15:guide>
        <p15:guide id="8" pos="2136">
          <p15:clr>
            <a:srgbClr val="A4A3A4"/>
          </p15:clr>
        </p15:guide>
        <p15:guide id="9" pos="2760">
          <p15:clr>
            <a:srgbClr val="A4A3A4"/>
          </p15:clr>
        </p15:guide>
        <p15:guide id="10" pos="3288">
          <p15:clr>
            <a:srgbClr val="A4A3A4"/>
          </p15:clr>
        </p15:guide>
        <p15:guide id="11" pos="4032">
          <p15:clr>
            <a:srgbClr val="A4A3A4"/>
          </p15:clr>
        </p15:guide>
        <p15:guide id="12" pos="4392">
          <p15:clr>
            <a:srgbClr val="A4A3A4"/>
          </p15:clr>
        </p15:guide>
        <p15:guide id="13" pos="4944">
          <p15:clr>
            <a:srgbClr val="A4A3A4"/>
          </p15:clr>
        </p15:guide>
        <p15:guide id="14" pos="5544">
          <p15:clr>
            <a:srgbClr val="A4A3A4"/>
          </p15:clr>
        </p15:guide>
        <p15:guide id="15" pos="6072">
          <p15:clr>
            <a:srgbClr val="A4A3A4"/>
          </p15:clr>
        </p15:guide>
        <p15:guide id="16" orient="horz" pos="2448">
          <p15:clr>
            <a:srgbClr val="A4A3A4"/>
          </p15:clr>
        </p15:guide>
        <p15:guide id="17" pos="5256">
          <p15:clr>
            <a:srgbClr val="A4A3A4"/>
          </p15:clr>
        </p15:guide>
        <p15:guide id="18" pos="72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616" orient="horz"/>
        <p:guide pos="3264" orient="horz"/>
        <p:guide pos="6912"/>
        <p:guide orient="horz"/>
        <p:guide pos="4008" orient="horz"/>
        <p:guide pos="2352" orient="horz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pos="2448" orient="horz"/>
        <p:guide pos="5256"/>
        <p:guide pos="726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BGaramond-bold.fntdata"/><Relationship Id="rId16" Type="http://schemas.openxmlformats.org/officeDocument/2006/relationships/font" Target="fonts/EBGaramon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-boldItalic.fntdata"/><Relationship Id="rId6" Type="http://schemas.openxmlformats.org/officeDocument/2006/relationships/slide" Target="slides/slide1.xml"/><Relationship Id="rId18" Type="http://schemas.openxmlformats.org/officeDocument/2006/relationships/font" Target="fonts/EBGaramon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28697497c_0_3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f28697497c_0_3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5295900" cy="6877050"/>
          </a:xfrm>
          <a:custGeom>
            <a:rect b="b" l="l" r="r" t="t"/>
            <a:pathLst>
              <a:path extrusionOk="0" h="6877050" w="529590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1500188" y="1173106"/>
            <a:ext cx="9191625" cy="5704772"/>
          </a:xfrm>
          <a:custGeom>
            <a:rect b="b" l="l" r="r" t="t"/>
            <a:pathLst>
              <a:path extrusionOk="0" h="5704772" w="9191625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694429" y="0"/>
            <a:ext cx="6803142" cy="5396474"/>
          </a:xfrm>
          <a:custGeom>
            <a:rect b="b" l="l" r="r" t="t"/>
            <a:pathLst>
              <a:path extrusionOk="0" h="5396474" w="6803142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2899790" y="810227"/>
            <a:ext cx="6392421" cy="3831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16" name="Google Shape;16;p3"/>
            <p:cNvSpPr/>
            <p:nvPr/>
          </p:nvSpPr>
          <p:spPr>
            <a:xfrm>
              <a:off x="5009037" y="2525712"/>
              <a:ext cx="3601721" cy="4332288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8589536" y="2525712"/>
              <a:ext cx="3589694" cy="4332288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8" name="Google Shape;18;p3"/>
          <p:cNvGrpSpPr/>
          <p:nvPr/>
        </p:nvGrpSpPr>
        <p:grpSpPr>
          <a:xfrm rot="10800000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9" name="Google Shape;19;p3"/>
            <p:cNvSpPr/>
            <p:nvPr/>
          </p:nvSpPr>
          <p:spPr>
            <a:xfrm>
              <a:off x="5183405" y="2678112"/>
              <a:ext cx="3601721" cy="4332288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8763903" y="2678112"/>
              <a:ext cx="3589695" cy="4332288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7642518" y="4577658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914400" y="1057274"/>
            <a:ext cx="6583680" cy="153135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914400" y="2834640"/>
            <a:ext cx="6583680" cy="3207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55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2">
  <p:cSld name="Introduction 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28" name="Google Shape;28;p4"/>
          <p:cNvGrpSpPr/>
          <p:nvPr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29" name="Google Shape;29;p4"/>
            <p:cNvSpPr/>
            <p:nvPr/>
          </p:nvSpPr>
          <p:spPr>
            <a:xfrm>
              <a:off x="0" y="0"/>
              <a:ext cx="2838450" cy="2857958"/>
            </a:xfrm>
            <a:custGeom>
              <a:rect b="b" l="l" r="r" t="t"/>
              <a:pathLst>
                <a:path extrusionOk="0" h="2857958" w="2838450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" y="1"/>
              <a:ext cx="1003449" cy="1013015"/>
            </a:xfrm>
            <a:custGeom>
              <a:rect b="b" l="l" r="r" t="t"/>
              <a:pathLst>
                <a:path extrusionOk="0" h="1013015" w="1003449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1458332" y="590133"/>
              <a:ext cx="775021" cy="775021"/>
            </a:xfrm>
            <a:custGeom>
              <a:rect b="b" l="l" r="r" t="t"/>
              <a:pathLst>
                <a:path extrusionOk="0" h="775021" w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32" name="Google Shape;32;p4"/>
          <p:cNvSpPr txBox="1"/>
          <p:nvPr>
            <p:ph type="title"/>
          </p:nvPr>
        </p:nvSpPr>
        <p:spPr>
          <a:xfrm>
            <a:off x="5702441" y="1061623"/>
            <a:ext cx="5723586" cy="4739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/>
          <p:nvPr>
            <p:ph idx="2" type="pic"/>
          </p:nvPr>
        </p:nvSpPr>
        <p:spPr>
          <a:xfrm>
            <a:off x="443345" y="0"/>
            <a:ext cx="4344695" cy="63595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" name="Google Shape;37;p5"/>
          <p:cNvSpPr/>
          <p:nvPr/>
        </p:nvSpPr>
        <p:spPr>
          <a:xfrm rot="-5400000">
            <a:off x="5760023" y="3764463"/>
            <a:ext cx="2812357" cy="3394143"/>
          </a:xfrm>
          <a:custGeom>
            <a:rect b="b" l="l" r="r" t="t"/>
            <a:pathLst>
              <a:path extrusionOk="0" h="3394143" w="2812357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rgbClr val="ECEDD2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0" y="3463854"/>
            <a:ext cx="435241" cy="3394146"/>
          </a:xfrm>
          <a:custGeom>
            <a:rect b="b" l="l" r="r" t="t"/>
            <a:pathLst>
              <a:path extrusionOk="0" h="3394146" w="435241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914400" y="1057275"/>
            <a:ext cx="5259554" cy="24950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914400" y="3808750"/>
            <a:ext cx="5259554" cy="2233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/>
          <p:nvPr>
            <p:ph idx="2" type="pic"/>
          </p:nvPr>
        </p:nvSpPr>
        <p:spPr>
          <a:xfrm>
            <a:off x="7414194" y="410780"/>
            <a:ext cx="4344695" cy="64472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-7117" y="0"/>
            <a:ext cx="2550985" cy="6858000"/>
          </a:xfrm>
          <a:custGeom>
            <a:rect b="b" l="l" r="r" t="t"/>
            <a:pathLst>
              <a:path extrusionOk="0" h="6858000" w="2550985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-9415" y="0"/>
            <a:ext cx="2548591" cy="2555628"/>
          </a:xfrm>
          <a:custGeom>
            <a:rect b="b" l="l" r="r" t="t"/>
            <a:pathLst>
              <a:path extrusionOk="0" h="2555628" w="2548591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5" name="Google Shape;45;p6"/>
          <p:cNvSpPr/>
          <p:nvPr/>
        </p:nvSpPr>
        <p:spPr>
          <a:xfrm flipH="1" rot="-5400000">
            <a:off x="-9389" y="4308466"/>
            <a:ext cx="2550984" cy="2560441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6" name="Google Shape;46;p6"/>
          <p:cNvSpPr/>
          <p:nvPr/>
        </p:nvSpPr>
        <p:spPr>
          <a:xfrm flipH="1">
            <a:off x="-10617" y="4308466"/>
            <a:ext cx="2550984" cy="2560441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2543868" y="0"/>
            <a:ext cx="2560340" cy="2560340"/>
          </a:xfrm>
          <a:custGeom>
            <a:rect b="b" l="l" r="r" t="t"/>
            <a:pathLst>
              <a:path extrusionOk="0" h="2560340" w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rgbClr val="DCE6F5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3460565" y="1057274"/>
            <a:ext cx="7965461" cy="9941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b="1" sz="3600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3460565" y="2303029"/>
            <a:ext cx="7965460" cy="349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 1">
  <p:cSld name="1_Comparison 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4364809" y="1057274"/>
            <a:ext cx="7043617" cy="25202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/>
          <p:nvPr/>
        </p:nvSpPr>
        <p:spPr>
          <a:xfrm>
            <a:off x="-5568" y="-2784"/>
            <a:ext cx="3443288" cy="6891337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1721621" y="-2784"/>
            <a:ext cx="1716115" cy="1720853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-5568" y="3440504"/>
            <a:ext cx="3443288" cy="3448050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4364808" y="3808750"/>
            <a:ext cx="7043618" cy="2233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4">
  <p:cSld name="Comparison 4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8989454" y="3427336"/>
            <a:ext cx="3202546" cy="3430665"/>
          </a:xfrm>
          <a:custGeom>
            <a:rect b="b" l="l" r="r" t="t"/>
            <a:pathLst>
              <a:path extrusionOk="0" h="3430665" w="3202546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8989454" y="3654149"/>
            <a:ext cx="3202546" cy="3203852"/>
          </a:xfrm>
          <a:custGeom>
            <a:rect b="b" l="l" r="r" t="t"/>
            <a:pathLst>
              <a:path extrusionOk="0" h="3203852" w="3202546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8989455" y="1"/>
            <a:ext cx="3202545" cy="3437345"/>
          </a:xfrm>
          <a:custGeom>
            <a:rect b="b" l="l" r="r" t="t"/>
            <a:pathLst>
              <a:path extrusionOk="0" h="3437345" w="32025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8989454" y="6681"/>
            <a:ext cx="3202546" cy="3436477"/>
          </a:xfrm>
          <a:custGeom>
            <a:rect b="b" l="l" r="r" t="t"/>
            <a:pathLst>
              <a:path extrusionOk="0" h="3436477" w="3202546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5" name="Google Shape;65;p8"/>
          <p:cNvSpPr txBox="1"/>
          <p:nvPr>
            <p:ph type="title"/>
          </p:nvPr>
        </p:nvSpPr>
        <p:spPr>
          <a:xfrm>
            <a:off x="914399" y="834635"/>
            <a:ext cx="7796464" cy="12223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914400" y="2303028"/>
            <a:ext cx="3283119" cy="372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2" type="body"/>
          </p:nvPr>
        </p:nvSpPr>
        <p:spPr>
          <a:xfrm>
            <a:off x="4782159" y="2303028"/>
            <a:ext cx="3284951" cy="372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">
  <p:cSld name="Timeline 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914400" y="965393"/>
            <a:ext cx="7631709" cy="109162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914400" y="2303028"/>
            <a:ext cx="3283119" cy="414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 Black"/>
              <a:buAutoNum type="arabicPeriod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 Black"/>
              <a:buAutoNum type="alphaLcPeriod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 Black"/>
              <a:buAutoNum type="arabicParenR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 Black"/>
              <a:buAutoNum type="alphaLcParenR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782159" y="2303028"/>
            <a:ext cx="3763950" cy="414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"/>
          <p:cNvSpPr/>
          <p:nvPr>
            <p:ph idx="3" type="pic"/>
          </p:nvPr>
        </p:nvSpPr>
        <p:spPr>
          <a:xfrm>
            <a:off x="8989454" y="965393"/>
            <a:ext cx="3202545" cy="58926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grpSp>
        <p:nvGrpSpPr>
          <p:cNvPr id="76" name="Google Shape;76;p9"/>
          <p:cNvGrpSpPr/>
          <p:nvPr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77" name="Google Shape;77;p9"/>
            <p:cNvSpPr/>
            <p:nvPr/>
          </p:nvSpPr>
          <p:spPr>
            <a:xfrm rot="10800000">
              <a:off x="12797096" y="4000041"/>
              <a:ext cx="2838450" cy="2857958"/>
            </a:xfrm>
            <a:custGeom>
              <a:rect b="b" l="l" r="r" t="t"/>
              <a:pathLst>
                <a:path extrusionOk="0" h="2857958" w="2838450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 rot="10800000">
              <a:off x="13664918" y="4867733"/>
              <a:ext cx="1970627" cy="1990267"/>
            </a:xfrm>
            <a:custGeom>
              <a:rect b="b" l="l" r="r" t="t"/>
              <a:pathLst>
                <a:path extrusionOk="0" h="1990267" w="197062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 rot="10800000">
              <a:off x="14632096" y="5844983"/>
              <a:ext cx="1003449" cy="1013015"/>
            </a:xfrm>
            <a:custGeom>
              <a:rect b="b" l="l" r="r" t="t"/>
              <a:pathLst>
                <a:path extrusionOk="0" h="1013015" w="1003449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 rot="10800000">
              <a:off x="13402193" y="5492845"/>
              <a:ext cx="775021" cy="775021"/>
            </a:xfrm>
            <a:custGeom>
              <a:rect b="b" l="l" r="r" t="t"/>
              <a:pathLst>
                <a:path extrusionOk="0" h="775021" w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accent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0" y="0"/>
            <a:ext cx="8948738" cy="6858000"/>
          </a:xfrm>
          <a:custGeom>
            <a:rect b="b" l="l" r="r" t="t"/>
            <a:pathLst>
              <a:path extrusionOk="0" h="6858000" w="8948738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7527501" y="0"/>
            <a:ext cx="4671276" cy="6857999"/>
          </a:xfrm>
          <a:custGeom>
            <a:rect b="b" l="l" r="r" t="t"/>
            <a:pathLst>
              <a:path extrusionOk="0" h="6831717" w="4653374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0"/>
          <p:cNvSpPr txBox="1"/>
          <p:nvPr>
            <p:ph type="ctrTitle"/>
          </p:nvPr>
        </p:nvSpPr>
        <p:spPr>
          <a:xfrm>
            <a:off x="914401" y="849782"/>
            <a:ext cx="5715000" cy="272770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914401" y="3813606"/>
            <a:ext cx="5715000" cy="2234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2">
  <p:cSld name="Summary 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8989454" y="-2546"/>
            <a:ext cx="3202546" cy="3441072"/>
          </a:xfrm>
          <a:custGeom>
            <a:rect b="b" l="l" r="r" t="t"/>
            <a:pathLst>
              <a:path extrusionOk="0" h="3441072" w="3202546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0" name="Google Shape;90;p11"/>
          <p:cNvSpPr/>
          <p:nvPr/>
        </p:nvSpPr>
        <p:spPr>
          <a:xfrm flipH="1" rot="10800000">
            <a:off x="9991725" y="1247775"/>
            <a:ext cx="2200275" cy="2181225"/>
          </a:xfrm>
          <a:custGeom>
            <a:rect b="b" l="l" r="r" t="t"/>
            <a:pathLst>
              <a:path extrusionOk="0" h="2181225" w="220027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11"/>
          <p:cNvSpPr/>
          <p:nvPr/>
        </p:nvSpPr>
        <p:spPr>
          <a:xfrm flipH="1" rot="10800000">
            <a:off x="-20086" y="5331514"/>
            <a:ext cx="2148416" cy="1526486"/>
          </a:xfrm>
          <a:custGeom>
            <a:rect b="b" l="l" r="r" t="t"/>
            <a:pathLst>
              <a:path extrusionOk="0" h="1526486" w="214841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2" name="Google Shape;9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1"/>
          <p:cNvSpPr/>
          <p:nvPr/>
        </p:nvSpPr>
        <p:spPr>
          <a:xfrm>
            <a:off x="1540428" y="6470488"/>
            <a:ext cx="775021" cy="387513"/>
          </a:xfrm>
          <a:custGeom>
            <a:rect b="b" l="l" r="r" t="t"/>
            <a:pathLst>
              <a:path extrusionOk="0" h="387513" w="775021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4" name="Google Shape;94;p11"/>
          <p:cNvSpPr txBox="1"/>
          <p:nvPr>
            <p:ph type="title"/>
          </p:nvPr>
        </p:nvSpPr>
        <p:spPr>
          <a:xfrm>
            <a:off x="914400" y="1057274"/>
            <a:ext cx="7843837" cy="10127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" type="body"/>
          </p:nvPr>
        </p:nvSpPr>
        <p:spPr>
          <a:xfrm>
            <a:off x="914400" y="2331791"/>
            <a:ext cx="6903076" cy="372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1"/>
          <p:cNvSpPr/>
          <p:nvPr>
            <p:ph idx="2" type="pic"/>
          </p:nvPr>
        </p:nvSpPr>
        <p:spPr>
          <a:xfrm>
            <a:off x="8989454" y="3405189"/>
            <a:ext cx="3202546" cy="3452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7" name="Google Shape;97;p11"/>
          <p:cNvSpPr txBox="1"/>
          <p:nvPr>
            <p:ph idx="12" type="sldNum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3">
  <p:cSld name="Timeline 3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1" y="0"/>
            <a:ext cx="1550562" cy="2545382"/>
          </a:xfrm>
          <a:custGeom>
            <a:rect b="b" l="l" r="r" t="t"/>
            <a:pathLst>
              <a:path extrusionOk="0" h="2545382" w="155056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" y="-1"/>
            <a:ext cx="682740" cy="1500050"/>
          </a:xfrm>
          <a:custGeom>
            <a:rect b="b" l="l" r="r" t="t"/>
            <a:pathLst>
              <a:path extrusionOk="0" h="1500050" w="68274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170445" y="314191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2" name="Google Shape;102;p12"/>
          <p:cNvSpPr txBox="1"/>
          <p:nvPr>
            <p:ph type="title"/>
          </p:nvPr>
        </p:nvSpPr>
        <p:spPr>
          <a:xfrm>
            <a:off x="1550563" y="1089213"/>
            <a:ext cx="9879437" cy="980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" type="body"/>
          </p:nvPr>
        </p:nvSpPr>
        <p:spPr>
          <a:xfrm>
            <a:off x="1550564" y="2331958"/>
            <a:ext cx="2975217" cy="3704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2" type="body"/>
          </p:nvPr>
        </p:nvSpPr>
        <p:spPr>
          <a:xfrm>
            <a:off x="5087154" y="2331791"/>
            <a:ext cx="6345893" cy="3721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2" type="sldNum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3">
  <p:cSld name="Summary 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 rotWithShape="1">
          <a:blip r:embed="rId2">
            <a:alphaModFix/>
          </a:blip>
          <a:srcRect b="0" l="0" r="0" t="7193"/>
          <a:stretch/>
        </p:blipFill>
        <p:spPr>
          <a:xfrm>
            <a:off x="1" y="-1"/>
            <a:ext cx="443344" cy="6856025"/>
          </a:xfrm>
          <a:custGeom>
            <a:rect b="b" l="l" r="r" t="t"/>
            <a:pathLst>
              <a:path extrusionOk="0" h="4795637" w="1734410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8" name="Google Shape;108;p13"/>
          <p:cNvSpPr txBox="1"/>
          <p:nvPr>
            <p:ph type="title"/>
          </p:nvPr>
        </p:nvSpPr>
        <p:spPr>
          <a:xfrm>
            <a:off x="1550564" y="1057274"/>
            <a:ext cx="9875463" cy="9997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/>
          <p:nvPr/>
        </p:nvSpPr>
        <p:spPr>
          <a:xfrm rot="10800000">
            <a:off x="-3" y="4420134"/>
            <a:ext cx="1293237" cy="2437866"/>
          </a:xfrm>
          <a:custGeom>
            <a:rect b="b" l="l" r="r" t="t"/>
            <a:pathLst>
              <a:path extrusionOk="0" h="2437866" w="1293237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0" name="Google Shape;110;p13"/>
          <p:cNvSpPr txBox="1"/>
          <p:nvPr>
            <p:ph idx="1" type="body"/>
          </p:nvPr>
        </p:nvSpPr>
        <p:spPr>
          <a:xfrm>
            <a:off x="1550564" y="2303028"/>
            <a:ext cx="5829147" cy="3961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body"/>
          </p:nvPr>
        </p:nvSpPr>
        <p:spPr>
          <a:xfrm>
            <a:off x="7940842" y="2303028"/>
            <a:ext cx="3485184" cy="3961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" name="Google Shape;113;p13"/>
          <p:cNvPicPr preferRelativeResize="0"/>
          <p:nvPr/>
        </p:nvPicPr>
        <p:blipFill rotWithShape="1">
          <a:blip r:embed="rId2">
            <a:alphaModFix/>
          </a:blip>
          <a:srcRect b="0" l="0" r="0" t="7193"/>
          <a:stretch/>
        </p:blipFill>
        <p:spPr>
          <a:xfrm rot="5400000">
            <a:off x="6072641" y="-5676015"/>
            <a:ext cx="443344" cy="11795374"/>
          </a:xfrm>
          <a:custGeom>
            <a:rect b="b" l="l" r="r" t="t"/>
            <a:pathLst>
              <a:path extrusionOk="0" h="4795637" w="1734410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10856" t="11443"/>
          <a:stretch/>
        </p:blipFill>
        <p:spPr>
          <a:xfrm rot="-5400000">
            <a:off x="-6447" y="6444"/>
            <a:ext cx="1961253" cy="1948364"/>
          </a:xfrm>
          <a:custGeom>
            <a:rect b="b" l="l" r="r" t="t"/>
            <a:pathLst>
              <a:path extrusionOk="0" h="1948364" w="1961253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5" name="Google Shape;115;p13"/>
          <p:cNvSpPr/>
          <p:nvPr/>
        </p:nvSpPr>
        <p:spPr>
          <a:xfrm>
            <a:off x="396626" y="4929577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Timeline 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/>
          <p:nvPr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9" name="Google Shape;119;p14"/>
          <p:cNvSpPr txBox="1"/>
          <p:nvPr>
            <p:ph type="title"/>
          </p:nvPr>
        </p:nvSpPr>
        <p:spPr>
          <a:xfrm>
            <a:off x="914400" y="1057274"/>
            <a:ext cx="10511627" cy="10127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914400" y="2316067"/>
            <a:ext cx="10511627" cy="39485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4" name="Google Shape;124;p15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5" name="Google Shape;125;p15"/>
          <p:cNvSpPr txBox="1"/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9" name="Google Shape;129;p16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3" name="Google Shape;133;p17"/>
          <p:cNvSpPr txBox="1"/>
          <p:nvPr>
            <p:ph type="title"/>
          </p:nvPr>
        </p:nvSpPr>
        <p:spPr>
          <a:xfrm>
            <a:off x="758952" y="758952"/>
            <a:ext cx="3932237" cy="152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758952" y="2286000"/>
            <a:ext cx="3932237" cy="3567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17"/>
          <p:cNvSpPr txBox="1"/>
          <p:nvPr>
            <p:ph idx="2" type="body"/>
          </p:nvPr>
        </p:nvSpPr>
        <p:spPr>
          <a:xfrm>
            <a:off x="5183187" y="741459"/>
            <a:ext cx="6242839" cy="5119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9" name="Google Shape;139;p18"/>
          <p:cNvSpPr txBox="1"/>
          <p:nvPr>
            <p:ph type="title"/>
          </p:nvPr>
        </p:nvSpPr>
        <p:spPr>
          <a:xfrm>
            <a:off x="760938" y="755372"/>
            <a:ext cx="393192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760938" y="2286001"/>
            <a:ext cx="393192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18"/>
          <p:cNvSpPr/>
          <p:nvPr>
            <p:ph idx="2" type="pic"/>
          </p:nvPr>
        </p:nvSpPr>
        <p:spPr>
          <a:xfrm>
            <a:off x="5262700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28289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800"/>
              <a:buFont typeface="Arial Black"/>
              <a:buNone/>
              <a:defRPr b="1" i="0" sz="38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shubham-maral/Specialized-LLM-Bot-Using-Pre-Trained-Model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L8KzhYtSWPuItfnHWO6v9u1rRne8KBCn/view" TargetMode="External"/><Relationship Id="rId4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ctrTitle"/>
          </p:nvPr>
        </p:nvSpPr>
        <p:spPr>
          <a:xfrm>
            <a:off x="2655163" y="1420488"/>
            <a:ext cx="63924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r>
              <a:rPr b="1" i="0" lang="en-US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SPECIALIZED LLM CHATBOT USING PRE-TRAINED MODELS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1235325" y="5393100"/>
            <a:ext cx="9067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Author : Shubham Maral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Institutional Affiliation : Woolf University &amp; AlmaBetter Innoversity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Date : October 2026</a:t>
            </a:r>
            <a:endParaRPr b="1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914400" y="1057274"/>
            <a:ext cx="6583680" cy="153135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914400" y="2834640"/>
            <a:ext cx="6583680" cy="3207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 fontScale="9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Problem Statement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Domain Selection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Data Collection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Project Workflow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Fine-</a:t>
            </a:r>
            <a:r>
              <a:rPr lang="en-US"/>
              <a:t>Tuning</a:t>
            </a:r>
            <a:r>
              <a:rPr lang="en-US"/>
              <a:t> Techniques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Code Overview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Chat Bot Demonstration</a:t>
            </a:r>
            <a:endParaRPr/>
          </a:p>
        </p:txBody>
      </p: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5702441" y="1061623"/>
            <a:ext cx="5723586" cy="11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PROBLEM STATEMENT</a:t>
            </a:r>
            <a:br>
              <a:rPr lang="en-US"/>
            </a:br>
            <a:endParaRPr/>
          </a:p>
        </p:txBody>
      </p:sp>
      <p:pic>
        <p:nvPicPr>
          <p:cNvPr descr="A person standing in front of a whiteboard" id="161" name="Google Shape;161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7208" r="27208" t="0"/>
          <a:stretch/>
        </p:blipFill>
        <p:spPr>
          <a:xfrm>
            <a:off x="443345" y="0"/>
            <a:ext cx="4344695" cy="63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/>
          <p:nvPr/>
        </p:nvSpPr>
        <p:spPr>
          <a:xfrm>
            <a:off x="5683476" y="2974288"/>
            <a:ext cx="5761514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aim of this capstone project is to create an industry-specific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 (LLM) Bot by leveraging pre-trained models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available on platforms like Hugging Face.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ollect data, and fine-tune a pre-trained LLM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howcase the bot's ability to interact with users efficiently by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delivering precise and contextually relevant responses.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914400" y="1057276"/>
            <a:ext cx="6011694" cy="683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DOMAIN SELECTION:- </a:t>
            </a:r>
            <a:r>
              <a:rPr lang="en-US">
                <a:solidFill>
                  <a:srgbClr val="C94545"/>
                </a:solidFill>
              </a:rPr>
              <a:t>FINANCE</a:t>
            </a:r>
            <a:endParaRPr/>
          </a:p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914399" y="1848255"/>
            <a:ext cx="6313251" cy="4581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 fontScale="4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High Demand for AI in Finance: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Automation of Processes: The finance industry increasingly relies on AI for automating routine tasks such as transaction processing, fraud detection, and customer service.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Rich and Diverse Data Sources: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Varied Data Types: The finance sector deals with diverse data types, including transactional data, market data, news articles, and social media sentiment.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Complex and Specialized Language: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Industry-Specific Terminology: Finance has a unique vocabulary and complex concepts that require specialized understanding and handling.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Enhancing Customer Experience: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Personalized Financial Advice: An LLM Bot can provide tailored financial advice and personalized investment recommendations.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Addressing Security and Fraud: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Fraud Detection: AI and LLMs can help in identifying unusual patterns and potential fraudulent activities.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The finance industry's dynamic nature, coupled with the critical need for precision, makes it an ideal choice for developing a specialized LLM Bot. By focusing on finance, this project aims to harness the power of AI to address complex challenges, improve efficiency, and enhance user experiences in a vital sector.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A person holding a microphone and standing in front of a group of people" id="169" name="Google Shape;169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7744" r="27744" t="0"/>
          <a:stretch/>
        </p:blipFill>
        <p:spPr>
          <a:xfrm>
            <a:off x="7414194" y="410780"/>
            <a:ext cx="4344695" cy="64472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3460565" y="457199"/>
            <a:ext cx="7965461" cy="9941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DATA COLLECTION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3149175" y="1600675"/>
            <a:ext cx="8815500" cy="49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 fontScale="70000"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900">
                <a:solidFill>
                  <a:schemeClr val="dk1"/>
                </a:solidFill>
              </a:rPr>
              <a:t>In the process of developing our Finance Industry-specific LLM Bot, the data collection phase is crucial for fine-tuning the pre-trained model to ensure it is knowledgeable and contextually aware of finance-related information.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b="1" lang="en-US"/>
              <a:t>Data Sources and Collection Methods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solidFill>
                  <a:schemeClr val="dk1"/>
                </a:solidFill>
              </a:rPr>
              <a:t>Publicly Available Datasets: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b="1" lang="en-US"/>
              <a:t>Hugging Face Datasets</a:t>
            </a:r>
            <a:r>
              <a:rPr b="1" lang="en-US">
                <a:solidFill>
                  <a:schemeClr val="dk1"/>
                </a:solidFill>
              </a:rPr>
              <a:t>:</a:t>
            </a:r>
            <a:r>
              <a:rPr lang="en-US">
                <a:solidFill>
                  <a:schemeClr val="dk1"/>
                </a:solidFill>
              </a:rPr>
              <a:t> Leveraged pre-existing datasets from Hugging Face to ensure high-quality, industry-specific data.</a:t>
            </a:r>
            <a:endParaRPr/>
          </a:p>
          <a:p>
            <a:pPr indent="0" lvl="1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solidFill>
                  <a:schemeClr val="dk1"/>
                </a:solidFill>
              </a:rPr>
              <a:t>Specific Dataset used:</a:t>
            </a:r>
            <a:endParaRPr>
              <a:solidFill>
                <a:schemeClr val="dk1"/>
              </a:solidFill>
            </a:endParaRPr>
          </a:p>
          <a:p>
            <a:pPr indent="0" lvl="1" marL="4572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b="1" lang="en-US"/>
              <a:t>1.  Finance Alpaca 1K Test:</a:t>
            </a:r>
            <a:r>
              <a:rPr lang="en-US"/>
              <a:t> </a:t>
            </a:r>
            <a:r>
              <a:rPr lang="en-US">
                <a:solidFill>
                  <a:schemeClr val="dk1"/>
                </a:solidFill>
              </a:rPr>
              <a:t>A dataset containing finance-related prompts and responses.</a:t>
            </a:r>
            <a:endParaRPr/>
          </a:p>
          <a:p>
            <a:pPr indent="-302894" lvl="1" marL="74295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solidFill>
                  <a:schemeClr val="dk1"/>
                </a:solidFill>
              </a:rPr>
              <a:t>Content:</a:t>
            </a:r>
            <a:r>
              <a:rPr lang="en-US">
                <a:solidFill>
                  <a:schemeClr val="dk1"/>
                </a:solidFill>
              </a:rPr>
              <a:t> Includes 1,000 examples of finance-related questions and answers.</a:t>
            </a:r>
            <a:endParaRPr/>
          </a:p>
          <a:p>
            <a:pPr indent="-302894" lvl="1" marL="74295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solidFill>
                  <a:schemeClr val="dk1"/>
                </a:solidFill>
              </a:rPr>
              <a:t>Purpose:</a:t>
            </a:r>
            <a:r>
              <a:rPr lang="en-US">
                <a:solidFill>
                  <a:schemeClr val="dk1"/>
                </a:solidFill>
              </a:rPr>
              <a:t> Provides a solid foundation for understanding finance-specific dialogues and improving response accuracy</a:t>
            </a:r>
            <a:endParaRPr/>
          </a:p>
          <a:p>
            <a:pPr indent="0" lvl="1" marL="4572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b="1" lang="en-US"/>
              <a:t>2.  Alpaca Finance EN:</a:t>
            </a:r>
            <a:r>
              <a:rPr lang="en-US"/>
              <a:t> </a:t>
            </a:r>
            <a:r>
              <a:rPr lang="en-US">
                <a:solidFill>
                  <a:schemeClr val="dk1"/>
                </a:solidFill>
              </a:rPr>
              <a:t>Another comprehensive dataset focused on financial dialogues and scenarios.</a:t>
            </a:r>
            <a:endParaRPr b="1">
              <a:solidFill>
                <a:schemeClr val="dk1"/>
              </a:solidFill>
            </a:endParaRPr>
          </a:p>
          <a:p>
            <a:pPr indent="-302894" lvl="1" marL="74295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solidFill>
                  <a:schemeClr val="dk1"/>
                </a:solidFill>
              </a:rPr>
              <a:t>Content:</a:t>
            </a:r>
            <a:r>
              <a:rPr lang="en-US">
                <a:solidFill>
                  <a:schemeClr val="dk1"/>
                </a:solidFill>
              </a:rPr>
              <a:t> A comprehensive dataset containing various financial scenarios, user queries, and expert responses.</a:t>
            </a:r>
            <a:endParaRPr/>
          </a:p>
          <a:p>
            <a:pPr indent="-302894" lvl="1" marL="74295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solidFill>
                  <a:schemeClr val="dk1"/>
                </a:solidFill>
              </a:rPr>
              <a:t>Purpose:</a:t>
            </a:r>
            <a:r>
              <a:rPr lang="en-US">
                <a:solidFill>
                  <a:schemeClr val="dk1"/>
                </a:solidFill>
              </a:rPr>
              <a:t> Enhances the model’s ability to engage in meaningful financial conversations and provide contextually relevant insights.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4382410" y="-802910"/>
            <a:ext cx="7043617" cy="25202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PROJECT WORKFLOW</a:t>
            </a:r>
            <a:endParaRPr/>
          </a:p>
        </p:txBody>
      </p:sp>
      <p:sp>
        <p:nvSpPr>
          <p:cNvPr id="182" name="Google Shape;182;p24"/>
          <p:cNvSpPr txBox="1"/>
          <p:nvPr>
            <p:ph idx="12" type="sldNum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4364808" y="3808750"/>
            <a:ext cx="7043618" cy="2233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The workflow for LLM finetuning"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7075" y="2188797"/>
            <a:ext cx="8191500" cy="385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914400" y="834630"/>
            <a:ext cx="7796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Fine-Tuning</a:t>
            </a:r>
            <a:r>
              <a:rPr b="0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/>
              <a:t>Techniques</a:t>
            </a:r>
            <a:endParaRPr/>
          </a:p>
        </p:txBody>
      </p:sp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457200" y="1889850"/>
            <a:ext cx="10172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PEFT: Optimizes a subset of parameters, reducing computational needs.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LoRA: Decomposes parameters into lower-rank matrices, enhancing fine-tuning efficiency.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QLoRA: Combines quantization with LoRA, reducing memory and computational demands.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914399" y="834635"/>
            <a:ext cx="7796400" cy="12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CODE OVERVIEW</a:t>
            </a:r>
            <a:endParaRPr/>
          </a:p>
        </p:txBody>
      </p:sp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10438475" y="457199"/>
            <a:ext cx="987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914400" y="2520975"/>
            <a:ext cx="2930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sng">
                <a:solidFill>
                  <a:schemeClr val="hlink"/>
                </a:solidFill>
                <a:hlinkClick r:id="rId3"/>
              </a:rPr>
              <a:t>Github Repo</a:t>
            </a:r>
            <a:endParaRPr b="1"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914400" y="965393"/>
            <a:ext cx="7631709" cy="109162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CHAT BOT DEMONSTRATION</a:t>
            </a:r>
            <a:br>
              <a:rPr lang="en-US"/>
            </a:br>
            <a:endParaRPr/>
          </a:p>
        </p:txBody>
      </p:sp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5" name="Google Shape;205;p27" title="video109063661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2057020"/>
            <a:ext cx="7993210" cy="4496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ctrTitle"/>
          </p:nvPr>
        </p:nvSpPr>
        <p:spPr>
          <a:xfrm>
            <a:off x="914401" y="849782"/>
            <a:ext cx="5715000" cy="272770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THANK </a:t>
            </a:r>
            <a:br>
              <a:rPr lang="en-US"/>
            </a:br>
            <a:r>
              <a:rPr lang="en-US"/>
              <a:t>YOU</a:t>
            </a:r>
            <a:endParaRPr/>
          </a:p>
        </p:txBody>
      </p:sp>
      <p:sp>
        <p:nvSpPr>
          <p:cNvPr id="211" name="Google Shape;211;p28"/>
          <p:cNvSpPr txBox="1"/>
          <p:nvPr>
            <p:ph idx="1" type="subTitle"/>
          </p:nvPr>
        </p:nvSpPr>
        <p:spPr>
          <a:xfrm>
            <a:off x="914401" y="3813606"/>
            <a:ext cx="5715000" cy="2234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Shubham Maral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spmaral1011@gmail.com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